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404040"/>
                </a:solidFill>
              </a:defRPr>
            </a:pPr>
            <a:r>
              <a:t>FusionTransformer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04040"/>
                </a:solidFill>
              </a:defRPr>
            </a:pPr>
            <a:r>
              <a:t>Dual-Stream IMU Fall Detection - Experiment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70C0"/>
                </a:solidFill>
              </a:defRPr>
            </a:pPr>
            <a:r>
              <a:t>January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Research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0">
                <a:solidFill>
                  <a:srgbClr val="404040"/>
                </a:solidFill>
              </a:defRPr>
            </a:pPr>
            <a:r>
              <a:t>Binary fall detection using wrist-worn IMU data</a:t>
            </a:r>
          </a:p>
          <a:p>
            <a:pPr>
              <a:spcBef>
                <a:spcPts val="600"/>
              </a:spcBef>
              <a:defRPr sz="2000" b="0">
                <a:solidFill>
                  <a:srgbClr val="404040"/>
                </a:solidFill>
              </a:defRPr>
            </a:pPr>
            <a:r>
              <a:t>Target: Real-time deployment on resource-constrained wearables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Key Innovation: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Dual-stream architecture with Kalman sensor fusion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Asymmetric capacity allocation (accelerometer vs orientation)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Lightweight transformer with attention-based pooling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Datasets: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WEDA-FALL: 25 subjects (Fitbit, 50Hz)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UP-FALL: 17 subjects (research-grade IMU)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SmartFallMM: 44 subjects (smartwatch)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Input Processing: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Raw IMU (6ch) → Kalman Filter → 7ch [SMV, acc, orientation]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Dual-Stream Encoding: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Accelerometer (4ch) → Conv1D → 65% of embed_dim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Orientation (3ch) → Linear/Conv1D → 35% of embed_dim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Fusion &amp; Classification: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Concatenate → LayerNorm → Transformer (2L, 4H)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→ Squeeze-Excitation → Temporal Attention Pooling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→ Binary classifier (focal loss)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Experimental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Cross-Dataset Performance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1381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1645920"/>
                <a:gridCol w="137160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Best Model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WEDA-FALL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KalmanConv1dConv1d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94.40 ± 3.21%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91.67%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96.2%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UP-FALL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TransDualKalman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93.8%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97.1%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SmartFallMM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KalmanConv1dLinear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91.38 ± 6.67%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88.4%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94.3%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Kalman vs Raw Input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7498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09728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Kalman F1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Raw F1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Winner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WEDA-FALL (standard)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94.40%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90.43%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+3.97%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Kalman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WEDA-FALL (aggressive aug)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95.08%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Raw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UP-FALL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94.43%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94.17%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+0.26%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Kalman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SmartFallMM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91.38%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+2.18%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Kalman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Finding: Kalman Benefit Depends on Sensor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Observation: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Kalman fusion helps more with noisier sensors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WEDA-FALL (consumer Fitbit):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+3.97% F1 improvement with Kalman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Higher sensor noise benefits from filtering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UP-FALL (research-grade IMU):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+0.26% F1 improvement with Kalman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Clean signals need less preprocessing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0">
                <a:solidFill>
                  <a:srgbClr val="404040"/>
                </a:solidFill>
              </a:defRPr>
            </a:pPr>
            <a:r>
              <a:t>Implication: Kalman fusion valuable for real-world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Architecture Ablations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Encoder Configuration Ablation (WEDA-FALL)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371600"/>
                <a:gridCol w="109728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 Encoder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Ori Encoder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Conv1D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Conv1D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94.40%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~45K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Conv1D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~42K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Fewer params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Linear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Linear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93.2%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~38K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Underfits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MultiKernel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~52K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 improvement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LSTM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Linear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94.48%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~68K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Best w/ aug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Stream Configuration Ablation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7772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Dual-stream (65/35)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94.40%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Acc 65%, Ori 35% - OPTIMAL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Dual-stream (50/50)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92.19%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Equal allocation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Dual-stream (70/30)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92.06%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More acc capacity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Single-stream (acc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 orientation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Single-stream (ori only)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87.5%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 accelerometer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Hyperparameter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0C0"/>
                </a:solidFill>
              </a:defRPr>
            </a:pPr>
            <a:r>
              <a:t>Optimal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/>
            </a:pPr>
            <a:r>
              <a:t>Window Size: 5s (250 samples)</a:t>
            </a:r>
          </a:p>
          <a:p>
            <a:pPr>
              <a:spcBef>
                <a:spcPts val="400"/>
              </a:spcBef>
              <a:defRPr sz="1600"/>
            </a:pPr>
            <a:r>
              <a:t>Embed Dim: 48</a:t>
            </a:r>
          </a:p>
          <a:p>
            <a:pPr>
              <a:spcBef>
                <a:spcPts val="400"/>
              </a:spcBef>
              <a:defRPr sz="1600"/>
            </a:pPr>
            <a:r>
              <a:t>Dropout: 0.5</a:t>
            </a:r>
          </a:p>
          <a:p>
            <a:pPr>
              <a:spcBef>
                <a:spcPts val="400"/>
              </a:spcBef>
              <a:defRPr sz="1600"/>
            </a:pPr>
            <a:r>
              <a:t>Num Layers: 2</a:t>
            </a:r>
          </a:p>
          <a:p>
            <a:pPr>
              <a:spcBef>
                <a:spcPts val="400"/>
              </a:spcBef>
              <a:defRPr sz="1600"/>
            </a:pPr>
            <a:r>
              <a:t>Num Heads: 4</a:t>
            </a:r>
          </a:p>
          <a:p>
            <a:pPr>
              <a:spcBef>
                <a:spcPts val="400"/>
              </a:spcBef>
              <a:defRPr sz="1600"/>
            </a:pPr>
            <a:r>
              <a:t>Learning Rate: 0.001</a:t>
            </a:r>
          </a:p>
          <a:p>
            <a:pPr>
              <a:spcBef>
                <a:spcPts val="400"/>
              </a:spcBef>
              <a:defRPr sz="1600"/>
            </a:pPr>
            <a:r>
              <a:t>Optimizer: AdamW</a:t>
            </a:r>
          </a:p>
          <a:p>
            <a:pPr>
              <a:spcBef>
                <a:spcPts val="400"/>
              </a:spcBef>
              <a:defRPr sz="1600"/>
            </a:pPr>
            <a:r>
              <a:t>Loss: Focal (γ=2)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0C0"/>
                </a:solidFill>
              </a:defRPr>
            </a:pPr>
            <a:r>
              <a:t>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/>
            </a:pPr>
            <a:r>
              <a:t>Window 4-5s optimal</a:t>
            </a:r>
          </a:p>
          <a:p>
            <a:pPr>
              <a:spcBef>
                <a:spcPts val="400"/>
              </a:spcBef>
              <a:defRPr sz="1600"/>
            </a:pPr>
            <a:r>
              <a:t>  - &lt;3s misses context</a:t>
            </a:r>
          </a:p>
          <a:p>
            <a:pPr>
              <a:spcBef>
                <a:spcPts val="400"/>
              </a:spcBef>
              <a:defRPr sz="1600"/>
            </a:pPr>
            <a:r>
              <a:t>  - &gt;6s dilutes signal</a:t>
            </a:r>
          </a:p>
          <a:p>
            <a:pPr>
              <a:spcBef>
                <a:spcPts val="400"/>
              </a:spcBef>
              <a:defRPr sz="1600"/>
            </a:pPr>
          </a:p>
          <a:p>
            <a:pPr>
              <a:spcBef>
                <a:spcPts val="400"/>
              </a:spcBef>
              <a:defRPr sz="1600"/>
            </a:pPr>
            <a:r>
              <a:t>Embed 48 sweet spot</a:t>
            </a:r>
          </a:p>
          <a:p>
            <a:pPr>
              <a:spcBef>
                <a:spcPts val="400"/>
              </a:spcBef>
              <a:defRPr sz="1600"/>
            </a:pPr>
            <a:r>
              <a:t>  - 32 underfits</a:t>
            </a:r>
          </a:p>
          <a:p>
            <a:pPr>
              <a:spcBef>
                <a:spcPts val="400"/>
              </a:spcBef>
              <a:defRPr sz="1600"/>
            </a:pPr>
            <a:r>
              <a:t>  - 64 overfits</a:t>
            </a:r>
          </a:p>
          <a:p>
            <a:pPr>
              <a:spcBef>
                <a:spcPts val="400"/>
              </a:spcBef>
              <a:defRPr sz="1600"/>
            </a:pPr>
          </a:p>
          <a:p>
            <a:pPr>
              <a:spcBef>
                <a:spcPts val="400"/>
              </a:spcBef>
              <a:defRPr sz="1600"/>
            </a:pPr>
            <a:r>
              <a:t>Convergence: epoch 5-10</a:t>
            </a:r>
          </a:p>
          <a:p>
            <a:pPr>
              <a:spcBef>
                <a:spcPts val="400"/>
              </a:spcBef>
              <a:defRPr sz="1600"/>
            </a:pPr>
            <a:r>
              <a:t>Early stopping: patience=15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Comprehensive Ablations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WEDA-FALL Comprehensive Ablation (144 experiments)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7498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Best Value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F1 Range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Window Size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4s-5s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92.1% - 94.5%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Dropout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0.5-0.6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93.2% - 94.5%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Medium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Embed Dim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91.8% - 94.5%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acc_only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93.8% - 94.4%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Low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Input Type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Kalman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90.4% - 94.4%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Acc/Gyro Ratio Ablation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Ratio (Acc/Ori)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WEDA-FALL F1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All Subjects F1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50/50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91.53%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92.19%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65/35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91.65%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91.89%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70/30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91.44%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92.06%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Ongoing Experiments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Gated Fusion Ablation (In Progress)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Testing attention-based modality fusion: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Fusion Modes: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concat: Baseline concatenation (no gating)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global_gate: Per-sample scalar α weighting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timestep_gate: Per-timestep α(t) adaptation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shared_sum: Project + softmax weighted sum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Hypothesis: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Adaptive gating improves robustness across subjects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Gate values may reveal modality importance patterns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WEDA-FALL Elderly Subject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Dataset Composition: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Young subjects (1-14): Falls + ADLs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Elderly subjects (21-31): ADLs only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0">
                <a:solidFill>
                  <a:srgbClr val="404040"/>
                </a:solidFill>
              </a:defRPr>
            </a:pPr>
            <a:r>
              <a:t>Experiment: Add elderly ADLs to training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Result: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Baseline (young only): 94.40% F1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With elderly ADLs: 94.41% F1 (+0.01%)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0">
                <a:solidFill>
                  <a:srgbClr val="404040"/>
                </a:solidFill>
              </a:defRPr>
            </a:pPr>
            <a:r>
              <a:t>Conclusion: Minimal benefit - model generalizes well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Current Ablation Runs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32004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Ablation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Experiments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Variables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WEDA-FALL Elderly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window, dropout, embed, input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Running</a:t>
                      </a:r>
                    </a:p>
                  </a:txBody>
                  <a:tcPr anchor="ctr">
                    <a:solidFill>
                      <a:srgbClr val="DDE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Gated 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fusion, encoder, window, gate_dim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Running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0">
                <a:solidFill>
                  <a:srgbClr val="404040"/>
                </a:solidFill>
              </a:defRPr>
            </a:pPr>
            <a:r>
              <a:t>1. Dual-stream architecture outperforms single-stream (+2-3%)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0">
                <a:solidFill>
                  <a:srgbClr val="404040"/>
                </a:solidFill>
              </a:defRPr>
            </a:pPr>
            <a:r>
              <a:t>2. Asymmetric capacity (65/35) optimal for acc/ori split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0">
                <a:solidFill>
                  <a:srgbClr val="404040"/>
                </a:solidFill>
              </a:defRPr>
            </a:pPr>
            <a:r>
              <a:t>3. Kalman fusion valuable for consumer-grade sensors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(+4% on Fitbit vs +0.3% on research IMU)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0">
                <a:solidFill>
                  <a:srgbClr val="404040"/>
                </a:solidFill>
              </a:defRPr>
            </a:pPr>
            <a:r>
              <a:t>4. Window size 4-5s optimal for fall detection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0">
                <a:solidFill>
                  <a:srgbClr val="404040"/>
                </a:solidFill>
              </a:defRPr>
            </a:pPr>
            <a:r>
              <a:t>5. Model converges quickly (5-10 epochs) with proper regularization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0">
                <a:solidFill>
                  <a:srgbClr val="404040"/>
                </a:solidFill>
              </a:defRPr>
            </a:pPr>
            <a:r>
              <a:t>6. Consistent 91-95% F1 across three diverse datasets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Immediate: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Complete gated fusion ablation analysis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Finalize best configs for all datasets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Short-term: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Cross-dataset transfer learning experiments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Generate publication-ready figures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Threshold calibration for deployment</a:t>
            </a:r>
          </a:p>
          <a:p>
            <a:pPr>
              <a:spcBef>
                <a:spcPts val="600"/>
              </a:spcBef>
              <a:defRPr sz="10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404040"/>
                </a:solidFill>
              </a:defRPr>
            </a:pPr>
            <a:r>
              <a:t>Long-term: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Real-time inference benchmarking (latency, memory)</a:t>
            </a:r>
          </a:p>
          <a:p>
            <a:pPr lvl="1"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On-device deployment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